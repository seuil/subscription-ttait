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6"/>
  </p:notesMasterIdLst>
  <p:sldIdLst>
    <p:sldId id="256" r:id="rId2"/>
    <p:sldId id="269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8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50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62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1267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B4175-2EE3-A950-35BE-8CDF45DB5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F14CF-9DDD-5D18-2EF5-677105349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31A18-32A8-DEAC-B643-7BD98F83C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EE7E1-700E-2A82-1E58-4BD0CAA023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13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01487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2606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9004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302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0607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6825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2034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014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82220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4170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0278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9627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7788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청약 따잇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4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맞춤형 공공임대 청약 정보 플랫폼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8F9FA"/>
                </a:solidFill>
              </a:rPr>
              <a:t>중간 발표 | 2026년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883C4-8E18-F947-ED87-175E167F7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01C8EA-65C8-E70B-EFA7-39AAE4BAFD0F}"/>
              </a:ext>
            </a:extLst>
          </p:cNvPr>
          <p:cNvSpPr/>
          <p:nvPr/>
        </p:nvSpPr>
        <p:spPr>
          <a:xfrm>
            <a:off x="-68581" y="-47353"/>
            <a:ext cx="9281160" cy="523820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2A411FA-933A-2572-0CCC-372F6580CDE0}"/>
              </a:ext>
            </a:extLst>
          </p:cNvPr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4400" b="1" dirty="0">
                <a:solidFill>
                  <a:srgbClr val="0000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4400" dirty="0">
              <a:solidFill>
                <a:srgbClr val="000050"/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32C7051-8A14-7EDC-5863-034E5E06A007}"/>
              </a:ext>
            </a:extLst>
          </p:cNvPr>
          <p:cNvSpPr/>
          <p:nvPr/>
        </p:nvSpPr>
        <p:spPr>
          <a:xfrm>
            <a:off x="457200" y="868680"/>
            <a:ext cx="109728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8E0CA33-9773-BB33-0D09-13CDDC53C9F2}"/>
              </a:ext>
            </a:extLst>
          </p:cNvPr>
          <p:cNvSpPr/>
          <p:nvPr/>
        </p:nvSpPr>
        <p:spPr>
          <a:xfrm>
            <a:off x="623751" y="1306939"/>
            <a:ext cx="7896497" cy="3146841"/>
          </a:xfrm>
          <a:prstGeom prst="roundRect">
            <a:avLst/>
          </a:prstGeom>
          <a:solidFill>
            <a:srgbClr val="ECEFF1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F4000A-5AB9-5E78-75C8-9E859ABD179E}"/>
              </a:ext>
            </a:extLst>
          </p:cNvPr>
          <p:cNvSpPr/>
          <p:nvPr/>
        </p:nvSpPr>
        <p:spPr>
          <a:xfrm>
            <a:off x="933994" y="1867987"/>
            <a:ext cx="7151914" cy="2024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AutoNum type="arabicPeriod"/>
            </a:pPr>
            <a:r>
              <a:rPr lang="ko-KR" altLang="en-US" sz="1600" b="1" dirty="0">
                <a:solidFill>
                  <a:srgbClr val="1E3A5F"/>
                </a:solidFill>
              </a:rPr>
              <a:t>팀 구성</a:t>
            </a:r>
            <a:endParaRPr lang="en-US" altLang="ko-KR" sz="1600" b="1" dirty="0">
              <a:solidFill>
                <a:srgbClr val="1E3A5F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b="1" dirty="0">
                <a:solidFill>
                  <a:srgbClr val="1E3A5F"/>
                </a:solidFill>
              </a:rPr>
              <a:t>서비스 개요</a:t>
            </a:r>
            <a:endParaRPr lang="en-US" altLang="ko-KR" sz="1600" b="1" dirty="0">
              <a:solidFill>
                <a:srgbClr val="1E3A5F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b="1" dirty="0">
                <a:solidFill>
                  <a:srgbClr val="1E3A5F"/>
                </a:solidFill>
              </a:rPr>
              <a:t>개발 전략</a:t>
            </a:r>
            <a:endParaRPr lang="en-US" altLang="ko-KR" sz="1600" b="1" dirty="0">
              <a:solidFill>
                <a:srgbClr val="1E3A5F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b="1" dirty="0">
                <a:solidFill>
                  <a:srgbClr val="1E3A5F"/>
                </a:solidFill>
              </a:rPr>
              <a:t>공통 기술 스택</a:t>
            </a:r>
            <a:endParaRPr lang="en-US" altLang="ko-KR" sz="1600" b="1" dirty="0">
              <a:solidFill>
                <a:srgbClr val="1E3A5F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b="1" dirty="0">
                <a:solidFill>
                  <a:srgbClr val="1E3A5F"/>
                </a:solidFill>
              </a:rPr>
              <a:t>프로젝트 구조</a:t>
            </a:r>
            <a:endParaRPr lang="en-US" altLang="ko-KR" sz="1600" b="1" dirty="0">
              <a:solidFill>
                <a:srgbClr val="1E3A5F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b="1" dirty="0">
                <a:solidFill>
                  <a:srgbClr val="1E3A5F"/>
                </a:solidFill>
              </a:rPr>
              <a:t>개발 진행 현황</a:t>
            </a:r>
            <a:endParaRPr lang="en-US" altLang="ko-KR" sz="1600" b="1" dirty="0">
              <a:solidFill>
                <a:srgbClr val="1E3A5F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b="1" dirty="0">
                <a:solidFill>
                  <a:srgbClr val="1E3A5F"/>
                </a:solidFill>
              </a:rPr>
              <a:t>주요 기능</a:t>
            </a:r>
            <a:endParaRPr lang="en-US" altLang="ko-KR" sz="1600" b="1" dirty="0">
              <a:solidFill>
                <a:srgbClr val="1E3A5F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b="1" dirty="0">
                <a:solidFill>
                  <a:srgbClr val="1E3A5F"/>
                </a:solidFill>
              </a:rPr>
              <a:t>기술 도전 과제 </a:t>
            </a:r>
            <a:r>
              <a:rPr lang="en-US" altLang="ko-KR" sz="1600" b="1" dirty="0">
                <a:solidFill>
                  <a:srgbClr val="1E3A5F"/>
                </a:solidFill>
              </a:rPr>
              <a:t>&amp; </a:t>
            </a:r>
            <a:r>
              <a:rPr lang="ko-KR" altLang="en-US" sz="1600" b="1" dirty="0">
                <a:solidFill>
                  <a:srgbClr val="1E3A5F"/>
                </a:solidFill>
              </a:rPr>
              <a:t>해결 방안</a:t>
            </a:r>
            <a:endParaRPr lang="en-US" altLang="ko-KR" sz="1600" b="1" dirty="0">
              <a:solidFill>
                <a:srgbClr val="1E3A5F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b="1" dirty="0">
                <a:solidFill>
                  <a:srgbClr val="1E3A5F"/>
                </a:solidFill>
              </a:rPr>
              <a:t>향후 계획</a:t>
            </a:r>
            <a:endParaRPr lang="en-US" altLang="ko-KR" sz="1600" b="1" dirty="0">
              <a:solidFill>
                <a:srgbClr val="1E3A5F"/>
              </a:solidFill>
            </a:endParaRPr>
          </a:p>
          <a:p>
            <a:pPr marL="342900" indent="-342900">
              <a:buAutoNum type="arabicPeriod"/>
            </a:pPr>
            <a:endParaRPr lang="en-US" altLang="ko-KR" sz="1600" b="1" dirty="0">
              <a:solidFill>
                <a:srgbClr val="1E3A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168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팀 구성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2468880" cy="2286000"/>
          </a:xfrm>
          <a:prstGeom prst="roundRect">
            <a:avLst/>
          </a:prstGeom>
          <a:solidFill>
            <a:srgbClr val="ECEFF1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</a:rPr>
              <a:t>황스일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PDF/AI 파싱, 데이터 수집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645920"/>
            <a:ext cx="2468880" cy="2286000"/>
          </a:xfrm>
          <a:prstGeom prst="roundRect">
            <a:avLst/>
          </a:prstGeom>
          <a:solidFill>
            <a:srgbClr val="ECEFF1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33756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⚙️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2900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</a:rPr>
              <a:t>김재민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880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100" dirty="0" err="1">
                <a:solidFill>
                  <a:srgbClr val="2C3E50"/>
                </a:solidFill>
              </a:rPr>
              <a:t>프론트엔드</a:t>
            </a:r>
            <a:r>
              <a:rPr lang="en-US" altLang="ko-KR" sz="1100" dirty="0">
                <a:solidFill>
                  <a:srgbClr val="2C3E50"/>
                </a:solidFill>
              </a:rPr>
              <a:t>,</a:t>
            </a:r>
            <a:endParaRPr lang="en-US" sz="1100" dirty="0">
              <a:solidFill>
                <a:srgbClr val="2C3E50"/>
              </a:solidFill>
            </a:endParaRPr>
          </a:p>
          <a:p>
            <a:pPr marL="0" indent="0" algn="ctr">
              <a:buNone/>
            </a:pPr>
            <a:r>
              <a:rPr lang="en-US" sz="1100" dirty="0" err="1">
                <a:solidFill>
                  <a:srgbClr val="2C3E50"/>
                </a:solidFill>
              </a:rPr>
              <a:t>백엔드</a:t>
            </a:r>
            <a:r>
              <a:rPr lang="en-US" sz="1100" dirty="0">
                <a:solidFill>
                  <a:srgbClr val="2C3E50"/>
                </a:solidFill>
              </a:rPr>
              <a:t> 아키텍처 (subscrition)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1645920"/>
            <a:ext cx="2468880" cy="2286000"/>
          </a:xfrm>
          <a:prstGeom prst="roundRect">
            <a:avLst/>
          </a:prstGeom>
          <a:solidFill>
            <a:srgbClr val="ECEFF1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8932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08076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</a:rPr>
              <a:t>이현호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0" y="2880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데이터 관리, 백엔드 지원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서비스 개요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oundRect">
            <a:avLst/>
          </a:prstGeom>
          <a:solidFill>
            <a:srgbClr val="ECEFF1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</a:rPr>
              <a:t>공공임대 수혜 대상자를 위한 맞춤형 청약 정보 알림 서비스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2397031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👨‍💼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청년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233172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920240" y="2397031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74520" y="2926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신혼부부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33172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291840" y="2397031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46120" y="2926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무주택자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63440" y="2397031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👴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17720" y="2926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고령자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233172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035040" y="2397031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89320" y="2926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저소득자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06640" y="233172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60920" y="2397031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👨‍👩‍👧‍👦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60920" y="2926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다자녀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</a:rPr>
              <a:t>핵심 차별점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💡 AI 기반 당첨 가능성 판단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4069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6B35"/>
                </a:solidFill>
              </a:rPr>
              <a:t>"이 공고, 나 신청 가능해? 붙을 수 있어?" → AI가 판단해줍니다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 전략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Demo → 정식 플러그인 방식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Demo에서 검증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복잡한 기능 먼저 개발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(외부 API, PDF+AI, 실거래가 등)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1920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6B35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74720" y="1828800"/>
            <a:ext cx="548640" cy="548640"/>
          </a:xfrm>
          <a:prstGeom prst="ellipse">
            <a:avLst/>
          </a:prstGeom>
          <a:solidFill>
            <a:srgbClr val="04D9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747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0040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기능 검증 완료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971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동작 및 성능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52160" y="1920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6B35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179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정식에 플러그인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2971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검증된 기능을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subscrition에 통합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731520"/>
          </a:xfrm>
          <a:prstGeom prst="roundRect">
            <a:avLst/>
          </a:prstGeom>
          <a:solidFill>
            <a:srgbClr val="ECEFF1"/>
          </a:solidFill>
          <a:ln w="25400">
            <a:solidFill>
              <a:srgbClr val="04D9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subscrition: 인터페이스/뼈대 먼저 구성 → demo의 실구현 가져오기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공통 기술 스택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백엔드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</a:rPr>
              <a:t>  • Java 17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</a:rPr>
              <a:t>  • Spring Boot 3.3.2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</a:rPr>
              <a:t>  • Gradle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  DB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23160" y="16002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</a:rPr>
              <a:t>  • MySQL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</a:rPr>
              <a:t>  • Redis (예정)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</a:rPr>
              <a:t>  • Spring Data JPA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931920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  </a:t>
            </a:r>
            <a:r>
              <a:rPr lang="en-US" sz="1200" b="1" dirty="0" err="1">
                <a:solidFill>
                  <a:srgbClr val="FFFFFF"/>
                </a:solidFill>
              </a:rPr>
              <a:t>보안</a:t>
            </a:r>
            <a:r>
              <a:rPr lang="en-US" sz="1200" b="1" dirty="0">
                <a:solidFill>
                  <a:srgbClr val="FFFFFF"/>
                </a:solidFill>
              </a:rPr>
              <a:t>/API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</a:rPr>
              <a:t>  • JWT (</a:t>
            </a:r>
            <a:r>
              <a:rPr lang="en-US" sz="1000" dirty="0" err="1">
                <a:solidFill>
                  <a:srgbClr val="2C3E50"/>
                </a:solidFill>
              </a:rPr>
              <a:t>jwt</a:t>
            </a:r>
            <a:r>
              <a:rPr lang="en-US" sz="1000" dirty="0">
                <a:solidFill>
                  <a:srgbClr val="2C3E50"/>
                </a:solidFill>
              </a:rPr>
              <a:t> 0.12.6)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</a:rPr>
              <a:t>  • Spring Security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</a:rPr>
              <a:t>  • Swagger UI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331720"/>
            <a:ext cx="3931920" cy="2743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  </a:t>
            </a:r>
            <a:r>
              <a:rPr lang="en-US" sz="1200" b="1" dirty="0" err="1">
                <a:solidFill>
                  <a:srgbClr val="FFFFFF"/>
                </a:solidFill>
              </a:rPr>
              <a:t>프론트</a:t>
            </a:r>
            <a:r>
              <a:rPr lang="en-US" sz="1200" b="1" dirty="0">
                <a:solidFill>
                  <a:srgbClr val="FFFFFF"/>
                </a:solidFill>
              </a:rPr>
              <a:t> (정식)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26517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</a:rPr>
              <a:t>  • React + TypeScript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383280"/>
            <a:ext cx="3931920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0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프론트 (데모)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3703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</a:rPr>
              <a:t>  • Vanilla JS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</a:rPr>
              <a:t>  • HTML5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</a:rPr>
              <a:t>  • CSS3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383280"/>
            <a:ext cx="3931920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0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  </a:t>
            </a:r>
            <a:r>
              <a:rPr lang="en-US" sz="1200" b="1" dirty="0" err="1">
                <a:solidFill>
                  <a:srgbClr val="FFFFFF"/>
                </a:solidFill>
              </a:rPr>
              <a:t>기타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3703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</a:rPr>
              <a:t>  • Hibernate ORM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</a:rPr>
              <a:t>  • Apache PDFBox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</a:rPr>
              <a:t>  • AI 파싱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구조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68580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325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frontend/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React/Vue 기반 UI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4114800" cy="68580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32120" y="1325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subscrition/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3212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정식 백엔드 (Spring Boot)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4114800" cy="68580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demo/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기능 검증용 데모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103120"/>
            <a:ext cx="4114800" cy="68580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0292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3212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Design System/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3212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UI 컴포넌트 라이브러리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4114800" cy="68580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4300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pdf-ai-poc/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3246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PDF 파싱 + AI 기능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926080"/>
            <a:ext cx="4114800" cy="68580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2920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3212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docs/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3246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프로젝트 문서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 진행 현황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요구사항 분석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269480" y="1280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</a:rPr>
              <a:t>100%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1280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D9C4"/>
                </a:solidFill>
              </a:rPr>
              <a:t>✓ 완료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17520" y="1353312"/>
            <a:ext cx="3997234" cy="137160"/>
          </a:xfrm>
          <a:prstGeom prst="round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017520" y="1353312"/>
            <a:ext cx="3997234" cy="137160"/>
          </a:xfrm>
          <a:prstGeom prst="roundRect">
            <a:avLst/>
          </a:prstGeom>
          <a:solidFill>
            <a:srgbClr val="04D9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시스템 아키텍처 설계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69480" y="1737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</a:rPr>
              <a:t>95%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0" y="1737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</a:rPr>
              <a:t>진행중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0" y="1810512"/>
            <a:ext cx="3997234" cy="137160"/>
          </a:xfrm>
          <a:prstGeom prst="round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017520" y="1810512"/>
            <a:ext cx="3797372" cy="137160"/>
          </a:xfrm>
          <a:prstGeom prst="round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Demo 개발 (PDF/AI)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69480" y="2194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</a:rPr>
              <a:t>100%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55280" y="2194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900" b="1" dirty="0">
                <a:solidFill>
                  <a:srgbClr val="04D9C4"/>
                </a:solidFill>
              </a:rPr>
              <a:t>✓ </a:t>
            </a:r>
            <a:r>
              <a:rPr lang="en-US" altLang="ko-KR" sz="900" b="1" dirty="0" err="1">
                <a:solidFill>
                  <a:srgbClr val="04D9C4"/>
                </a:solidFill>
              </a:rPr>
              <a:t>완료</a:t>
            </a:r>
            <a:endParaRPr lang="en-US" altLang="ko-KR" sz="900" dirty="0"/>
          </a:p>
        </p:txBody>
      </p:sp>
      <p:sp>
        <p:nvSpPr>
          <p:cNvPr id="17" name="Shape 15"/>
          <p:cNvSpPr/>
          <p:nvPr/>
        </p:nvSpPr>
        <p:spPr>
          <a:xfrm>
            <a:off x="3017520" y="2267712"/>
            <a:ext cx="3997234" cy="137160"/>
          </a:xfrm>
          <a:prstGeom prst="round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Subscrition 백엔드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2651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</a:rPr>
              <a:t>60%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0" y="2651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</a:rPr>
              <a:t>진행중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17520" y="2724912"/>
            <a:ext cx="3997234" cy="137160"/>
          </a:xfrm>
          <a:prstGeom prst="round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017519" y="2724912"/>
            <a:ext cx="2390503" cy="137160"/>
          </a:xfrm>
          <a:prstGeom prst="roundRect">
            <a:avLst/>
          </a:prstGeom>
          <a:solidFill>
            <a:srgbClr val="FFB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4864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데이터베이스 설계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69480" y="3108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</a:rPr>
              <a:t>85%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280" y="310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</a:rPr>
              <a:t>진행중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17520" y="3182112"/>
            <a:ext cx="3997234" cy="137160"/>
          </a:xfrm>
          <a:prstGeom prst="round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017520" y="3182112"/>
            <a:ext cx="3397649" cy="137160"/>
          </a:xfrm>
          <a:prstGeom prst="round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864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프론트엔드 개발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69480" y="3566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</a:rPr>
              <a:t>50%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5528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900" b="1" dirty="0">
                <a:solidFill>
                  <a:srgbClr val="FF6B35"/>
                </a:solidFill>
              </a:rPr>
              <a:t>진행중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17520" y="3639312"/>
            <a:ext cx="3997234" cy="137160"/>
          </a:xfrm>
          <a:prstGeom prst="round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017520" y="3639312"/>
            <a:ext cx="2103120" cy="137160"/>
          </a:xfrm>
          <a:prstGeom prst="roundRect">
            <a:avLst/>
          </a:prstGeom>
          <a:solidFill>
            <a:srgbClr val="FF99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E767667F-3FCF-9F3D-4379-592A127D06FC}"/>
              </a:ext>
            </a:extLst>
          </p:cNvPr>
          <p:cNvSpPr/>
          <p:nvPr/>
        </p:nvSpPr>
        <p:spPr>
          <a:xfrm>
            <a:off x="3017520" y="2263140"/>
            <a:ext cx="3997234" cy="137160"/>
          </a:xfrm>
          <a:prstGeom prst="roundRect">
            <a:avLst/>
          </a:prstGeom>
          <a:solidFill>
            <a:srgbClr val="04D9C4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기능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2560320"/>
          </a:xfrm>
          <a:prstGeom prst="roundRect">
            <a:avLst/>
          </a:prstGeom>
          <a:solidFill>
            <a:srgbClr val="ECEFF1"/>
          </a:solidFill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600200" y="14173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6002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🔔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맞춤형 공고 알림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사용자 조건에 맞는 공고만 필터링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560320" cy="2560320"/>
          </a:xfrm>
          <a:prstGeom prst="roundRect">
            <a:avLst/>
          </a:prstGeom>
          <a:solidFill>
            <a:srgbClr val="ECEFF1"/>
          </a:solidFill>
          <a:ln w="38100">
            <a:solidFill>
              <a:srgbClr val="04D9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43400" y="1417320"/>
            <a:ext cx="457200" cy="457200"/>
          </a:xfrm>
          <a:prstGeom prst="ellipse">
            <a:avLst/>
          </a:prstGeom>
          <a:solidFill>
            <a:srgbClr val="04D9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3434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2057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🤖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42900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AI </a:t>
            </a:r>
            <a:r>
              <a:rPr lang="en-US" sz="1300" b="1" dirty="0" err="1">
                <a:solidFill>
                  <a:srgbClr val="1E3A5F"/>
                </a:solidFill>
              </a:rPr>
              <a:t>당첨</a:t>
            </a:r>
            <a:r>
              <a:rPr lang="en-US" sz="1300" b="1" dirty="0">
                <a:solidFill>
                  <a:srgbClr val="1E3A5F"/>
                </a:solidFill>
              </a:rPr>
              <a:t> 가능성 분석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2C3E50"/>
                </a:solidFill>
              </a:rPr>
              <a:t>머신러닝</a:t>
            </a:r>
            <a:r>
              <a:rPr lang="en-US" sz="1000" dirty="0">
                <a:solidFill>
                  <a:srgbClr val="2C3E50"/>
                </a:solidFill>
              </a:rPr>
              <a:t> 기반 당첨 확률 예측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2560320" cy="2560320"/>
          </a:xfrm>
          <a:prstGeom prst="roundRect">
            <a:avLst/>
          </a:prstGeom>
          <a:solidFill>
            <a:srgbClr val="ECEFF1"/>
          </a:solidFill>
          <a:ln w="381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086600" y="141732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0866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035040" y="2057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📄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17220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1E3A5F"/>
                </a:solidFill>
              </a:rPr>
              <a:t>외부 </a:t>
            </a:r>
            <a:r>
              <a:rPr lang="en-US" altLang="ko-KR" sz="1300" b="1" dirty="0">
                <a:solidFill>
                  <a:srgbClr val="1E3A5F"/>
                </a:solidFill>
              </a:rPr>
              <a:t>API </a:t>
            </a:r>
            <a:r>
              <a:rPr lang="ko-KR" altLang="en-US" sz="1300" b="1" dirty="0">
                <a:solidFill>
                  <a:srgbClr val="1E3A5F"/>
                </a:solidFill>
              </a:rPr>
              <a:t>데이터 파싱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공고 문서 자동 분석 및 데이터 추출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AAD66E98-605E-A152-8393-3B33259141AA}"/>
              </a:ext>
            </a:extLst>
          </p:cNvPr>
          <p:cNvSpPr/>
          <p:nvPr/>
        </p:nvSpPr>
        <p:spPr>
          <a:xfrm>
            <a:off x="0" y="0"/>
            <a:ext cx="9213218" cy="5143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365760" y="1645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PDF 파싱 파이프라인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4D9C4"/>
                </a:solidFill>
              </a:rPr>
              <a:t>외부 API → AI 분석 → 통합 가공 → 사용자 제공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1" y="1051560"/>
            <a:ext cx="1378324" cy="256032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FF6B35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1" y="1051560"/>
            <a:ext cx="1378324" cy="34747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83464" y="1078992"/>
            <a:ext cx="2384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1" y="1051560"/>
            <a:ext cx="13783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외부 API 호출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1" y="1508760"/>
            <a:ext cx="13783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01752" y="2221992"/>
            <a:ext cx="1259117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공공 청약 API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요청 및 응답 수신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(JSON 형태)</a:t>
            </a:r>
          </a:p>
        </p:txBody>
      </p:sp>
      <p:sp>
        <p:nvSpPr>
          <p:cNvPr id="10" name="Shape 8"/>
          <p:cNvSpPr/>
          <p:nvPr/>
        </p:nvSpPr>
        <p:spPr>
          <a:xfrm>
            <a:off x="1915937" y="1049677"/>
            <a:ext cx="1454588" cy="256032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915937" y="1049677"/>
            <a:ext cx="145458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951347" y="1077109"/>
            <a:ext cx="2516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/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15937" y="1049677"/>
            <a:ext cx="14545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JSON 파싱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15937" y="1506877"/>
            <a:ext cx="14545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</a:rPr>
              <a:t>{ }</a:t>
            </a:r>
          </a:p>
        </p:txBody>
      </p:sp>
      <p:sp>
        <p:nvSpPr>
          <p:cNvPr id="15" name="Text 13"/>
          <p:cNvSpPr/>
          <p:nvPr/>
        </p:nvSpPr>
        <p:spPr>
          <a:xfrm>
            <a:off x="1983583" y="2220109"/>
            <a:ext cx="132878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공고 기본 정보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날짜·지역·세대수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등 구조 추출</a:t>
            </a:r>
          </a:p>
        </p:txBody>
      </p:sp>
      <p:sp>
        <p:nvSpPr>
          <p:cNvPr id="16" name="Shape 14"/>
          <p:cNvSpPr/>
          <p:nvPr/>
        </p:nvSpPr>
        <p:spPr>
          <a:xfrm>
            <a:off x="3698748" y="1051562"/>
            <a:ext cx="1454588" cy="2560318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98748" y="1051560"/>
            <a:ext cx="1454588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753612" y="1078992"/>
            <a:ext cx="2516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98748" y="1051560"/>
            <a:ext cx="14545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PDF AI 파싱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98748" y="1508760"/>
            <a:ext cx="14545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771900" y="2221993"/>
            <a:ext cx="1328786" cy="1371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JSON 내 PDF URL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다운로드 후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AI 텍스트 분석</a:t>
            </a:r>
          </a:p>
        </p:txBody>
      </p:sp>
      <p:sp>
        <p:nvSpPr>
          <p:cNvPr id="22" name="Shape 20"/>
          <p:cNvSpPr/>
          <p:nvPr/>
        </p:nvSpPr>
        <p:spPr>
          <a:xfrm>
            <a:off x="5496889" y="1051560"/>
            <a:ext cx="1454588" cy="2552209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04D9C4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496889" y="1051560"/>
            <a:ext cx="1454588" cy="346371"/>
          </a:xfrm>
          <a:prstGeom prst="rect">
            <a:avLst/>
          </a:prstGeom>
          <a:solidFill>
            <a:srgbClr val="04D9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551753" y="1078992"/>
            <a:ext cx="251604" cy="200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96889" y="1051560"/>
            <a:ext cx="1454588" cy="346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데이터 통합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96889" y="1508760"/>
            <a:ext cx="1454588" cy="592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570041" y="2221992"/>
            <a:ext cx="1328786" cy="13672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JSON 파싱 결과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+  AI 파싱 결과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→ 최종 데이터셋</a:t>
            </a:r>
          </a:p>
        </p:txBody>
      </p:sp>
      <p:sp>
        <p:nvSpPr>
          <p:cNvPr id="28" name="Shape 26"/>
          <p:cNvSpPr/>
          <p:nvPr/>
        </p:nvSpPr>
        <p:spPr>
          <a:xfrm>
            <a:off x="7313318" y="1049676"/>
            <a:ext cx="1454588" cy="2568431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FFCC00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313318" y="1049676"/>
            <a:ext cx="1454588" cy="348573"/>
          </a:xfrm>
          <a:prstGeom prst="rect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313318" y="1049676"/>
            <a:ext cx="1454588" cy="348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사용자 제공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13318" y="1506876"/>
            <a:ext cx="1454588" cy="59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386469" y="2220108"/>
            <a:ext cx="1260643" cy="13759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UI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렌더링</a:t>
            </a:r>
          </a:p>
        </p:txBody>
      </p:sp>
      <p:sp>
        <p:nvSpPr>
          <p:cNvPr id="41" name="Shape 39"/>
          <p:cNvSpPr/>
          <p:nvPr/>
        </p:nvSpPr>
        <p:spPr>
          <a:xfrm>
            <a:off x="228600" y="3840480"/>
            <a:ext cx="8686800" cy="594360"/>
          </a:xfrm>
          <a:prstGeom prst="rect">
            <a:avLst/>
          </a:prstGeom>
          <a:solidFill>
            <a:srgbClr val="1E3A5F">
              <a:alpha val="70000"/>
            </a:srgbClr>
          </a:solidFill>
          <a:ln w="19050">
            <a:solidFill>
              <a:srgbClr val="04D9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365760" y="38587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D9C4"/>
                </a:solidFill>
              </a:rPr>
              <a:t>💡 핵심 </a:t>
            </a:r>
            <a:r>
              <a:rPr lang="en-US" sz="1200" dirty="0">
                <a:solidFill>
                  <a:srgbClr val="FFFFFF"/>
                </a:solidFill>
              </a:rPr>
              <a:t>JSON 파싱과 AI PDF 파싱을 </a:t>
            </a:r>
            <a:r>
              <a:rPr lang="en-US" sz="1200" b="1" dirty="0">
                <a:solidFill>
                  <a:srgbClr val="FFCC00"/>
                </a:solidFill>
              </a:rPr>
              <a:t>병렬 분석</a:t>
            </a:r>
            <a:r>
              <a:rPr lang="en-US" sz="1200" dirty="0">
                <a:solidFill>
                  <a:srgbClr val="FFFFFF"/>
                </a:solidFill>
              </a:rPr>
              <a:t> 후 통합함으로써 기존 단순 API 활용 대비 </a:t>
            </a:r>
            <a:r>
              <a:rPr lang="en-US" sz="1200" b="1" dirty="0">
                <a:solidFill>
                  <a:srgbClr val="FF6B35"/>
                </a:solidFill>
              </a:rPr>
              <a:t>정보 정확도 &amp; 완성도를 대폭 향상</a:t>
            </a:r>
            <a:endParaRPr lang="en-US" sz="1200" dirty="0"/>
          </a:p>
        </p:txBody>
      </p:sp>
      <p:sp>
        <p:nvSpPr>
          <p:cNvPr id="43" name="Shape 31">
            <a:extLst>
              <a:ext uri="{FF2B5EF4-FFF2-40B4-BE49-F238E27FC236}">
                <a16:creationId xmlns:a16="http://schemas.microsoft.com/office/drawing/2014/main" id="{94C9DC81-E943-6C76-8189-142D1A64B24B}"/>
              </a:ext>
            </a:extLst>
          </p:cNvPr>
          <p:cNvSpPr/>
          <p:nvPr/>
        </p:nvSpPr>
        <p:spPr>
          <a:xfrm>
            <a:off x="1597157" y="2374123"/>
            <a:ext cx="288036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2">
            <a:extLst>
              <a:ext uri="{FF2B5EF4-FFF2-40B4-BE49-F238E27FC236}">
                <a16:creationId xmlns:a16="http://schemas.microsoft.com/office/drawing/2014/main" id="{DDEE3496-B8CF-ECB1-CCE5-022B96042E44}"/>
              </a:ext>
            </a:extLst>
          </p:cNvPr>
          <p:cNvSpPr/>
          <p:nvPr/>
        </p:nvSpPr>
        <p:spPr>
          <a:xfrm>
            <a:off x="1879314" y="2310115"/>
            <a:ext cx="36576" cy="12801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308A9577-A61C-0FDB-11C7-12633ADC7DBD}"/>
              </a:ext>
            </a:extLst>
          </p:cNvPr>
          <p:cNvSpPr/>
          <p:nvPr/>
        </p:nvSpPr>
        <p:spPr>
          <a:xfrm>
            <a:off x="3378562" y="2374123"/>
            <a:ext cx="288036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2">
            <a:extLst>
              <a:ext uri="{FF2B5EF4-FFF2-40B4-BE49-F238E27FC236}">
                <a16:creationId xmlns:a16="http://schemas.microsoft.com/office/drawing/2014/main" id="{2638908A-D900-75C1-9E29-BB959FA9D108}"/>
              </a:ext>
            </a:extLst>
          </p:cNvPr>
          <p:cNvSpPr/>
          <p:nvPr/>
        </p:nvSpPr>
        <p:spPr>
          <a:xfrm>
            <a:off x="3660719" y="2310115"/>
            <a:ext cx="36576" cy="12801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1">
            <a:extLst>
              <a:ext uri="{FF2B5EF4-FFF2-40B4-BE49-F238E27FC236}">
                <a16:creationId xmlns:a16="http://schemas.microsoft.com/office/drawing/2014/main" id="{0A7A73FF-943B-FE9F-B269-2590C926AF7F}"/>
              </a:ext>
            </a:extLst>
          </p:cNvPr>
          <p:cNvSpPr/>
          <p:nvPr/>
        </p:nvSpPr>
        <p:spPr>
          <a:xfrm>
            <a:off x="5166968" y="2374123"/>
            <a:ext cx="288036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32">
            <a:extLst>
              <a:ext uri="{FF2B5EF4-FFF2-40B4-BE49-F238E27FC236}">
                <a16:creationId xmlns:a16="http://schemas.microsoft.com/office/drawing/2014/main" id="{168FA39E-63A5-152E-BD50-FE8C3402CE8A}"/>
              </a:ext>
            </a:extLst>
          </p:cNvPr>
          <p:cNvSpPr/>
          <p:nvPr/>
        </p:nvSpPr>
        <p:spPr>
          <a:xfrm>
            <a:off x="5449125" y="2310115"/>
            <a:ext cx="36576" cy="12801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1">
            <a:extLst>
              <a:ext uri="{FF2B5EF4-FFF2-40B4-BE49-F238E27FC236}">
                <a16:creationId xmlns:a16="http://schemas.microsoft.com/office/drawing/2014/main" id="{C30D4EEB-0425-DF86-8FDD-7465A8C1D9E3}"/>
              </a:ext>
            </a:extLst>
          </p:cNvPr>
          <p:cNvSpPr/>
          <p:nvPr/>
        </p:nvSpPr>
        <p:spPr>
          <a:xfrm>
            <a:off x="6967125" y="2374123"/>
            <a:ext cx="338905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32">
            <a:extLst>
              <a:ext uri="{FF2B5EF4-FFF2-40B4-BE49-F238E27FC236}">
                <a16:creationId xmlns:a16="http://schemas.microsoft.com/office/drawing/2014/main" id="{587D5534-7129-0D32-3471-49D1CE57F37A}"/>
              </a:ext>
            </a:extLst>
          </p:cNvPr>
          <p:cNvSpPr/>
          <p:nvPr/>
        </p:nvSpPr>
        <p:spPr>
          <a:xfrm>
            <a:off x="7269455" y="2310115"/>
            <a:ext cx="36576" cy="12801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도전 과제 &amp; 해결 방안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PDF 파싱의 복잡성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66420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→ 다양한 형식의 공고 문서 자동 추출 (Apache PDFBox + </a:t>
            </a:r>
            <a:r>
              <a:rPr lang="en-US" sz="1000" dirty="0" err="1">
                <a:solidFill>
                  <a:srgbClr val="2C3E50"/>
                </a:solidFill>
              </a:rPr>
              <a:t>정규식</a:t>
            </a:r>
            <a:r>
              <a:rPr lang="en-US" sz="1000" dirty="0">
                <a:solidFill>
                  <a:srgbClr val="2C3E50"/>
                </a:solidFill>
              </a:rPr>
              <a:t> or Gemini PDF </a:t>
            </a:r>
            <a:r>
              <a:rPr lang="ko-KR" altLang="en-US" sz="1000" dirty="0">
                <a:solidFill>
                  <a:srgbClr val="2C3E50"/>
                </a:solidFill>
              </a:rPr>
              <a:t>파싱 기능</a:t>
            </a:r>
            <a:r>
              <a:rPr lang="en-US" sz="1000" dirty="0">
                <a:solidFill>
                  <a:srgbClr val="2C3E50"/>
                </a:solidFill>
              </a:rPr>
              <a:t>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AI 모델 정확도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57860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→ 실제 당첨 데이터 수집 및 지속적 모델 개선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대용량 데이터 처리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349300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→ Redis 캐싱 및 DB 인덱싱 최적화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4069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외부 API 연동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440740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→ Demo에서 검증 후 정식에 통합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향후 계획 (Q1-Q3)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651760" cy="365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Q1 (진행중)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✓ Demo 기능 완성</a:t>
            </a:r>
            <a:endParaRPr lang="en-US" sz="1000" b="1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✓ Subscrition 아키텍처 정립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✓ DB 설계 최적화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2651760" cy="365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38328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Q2 (예정)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✓ 프론트엔드 UI/UX 구현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✓ API 통합 테스트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✓ AI </a:t>
            </a:r>
            <a:r>
              <a:rPr lang="ko-KR" altLang="en-US" sz="1000" dirty="0" err="1">
                <a:solidFill>
                  <a:srgbClr val="2C3E50"/>
                </a:solidFill>
              </a:rPr>
              <a:t>프롬포트</a:t>
            </a:r>
            <a:r>
              <a:rPr lang="ko-KR" altLang="en-US" sz="1000" dirty="0">
                <a:solidFill>
                  <a:srgbClr val="2C3E50"/>
                </a:solidFill>
              </a:rPr>
              <a:t> 엔지니어링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234440"/>
            <a:ext cx="2651760" cy="365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1792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Q3 (예정)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✓ 알파 버전 출시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✓ 사용자 피드백 수집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✓ 성능 최적화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기대효과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468880"/>
          </a:xfrm>
          <a:prstGeom prst="roundRect">
            <a:avLst/>
          </a:prstGeom>
          <a:solidFill>
            <a:srgbClr val="04D9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👤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편의성 향상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</a:rPr>
              <a:t>공고 검색 시간 90% 단축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2468880"/>
          </a:xfrm>
          <a:prstGeom prst="roundRect">
            <a:avLst/>
          </a:prstGeom>
          <a:solidFill>
            <a:srgbClr val="04D9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29184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🎯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47472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정확성 증대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26974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</a:rPr>
              <a:t>AI 기반 맞춤형 추천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560320" cy="2468880"/>
          </a:xfrm>
          <a:prstGeom prst="roundRect">
            <a:avLst/>
          </a:prstGeom>
          <a:solidFill>
            <a:srgbClr val="04D9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03504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⚡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21792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의사결정 지원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6974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</a:rPr>
              <a:t>당첨 가능성 사전 파악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6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8F9FA"/>
                </a:solidFill>
              </a:rPr>
              <a:t>청약 따잇 - 맞춤형 공공임대 청약 정보 플랫폼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9FA"/>
                </a:solidFill>
              </a:rPr>
              <a:t>GitHub: https://github.com/SEUIL2/Subscription-TTAIT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</TotalTime>
  <Words>656</Words>
  <Application>Microsoft Office PowerPoint</Application>
  <PresentationFormat>화면 슬라이드 쇼(16:9)</PresentationFormat>
  <Paragraphs>215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김재민</cp:lastModifiedBy>
  <cp:revision>10</cp:revision>
  <dcterms:created xsi:type="dcterms:W3CDTF">2026-05-07T07:00:46Z</dcterms:created>
  <dcterms:modified xsi:type="dcterms:W3CDTF">2026-05-11T11:03:27Z</dcterms:modified>
</cp:coreProperties>
</file>